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Inter Light"/>
      <p:regular r:id="rId33"/>
      <p:bold r:id="rId34"/>
      <p:italic r:id="rId35"/>
      <p:boldItalic r:id="rId36"/>
    </p:embeddedFont>
    <p:embeddedFont>
      <p:font typeface="Inter SemiBold"/>
      <p:regular r:id="rId37"/>
      <p:bold r:id="rId38"/>
      <p:italic r:id="rId39"/>
      <p:boldItalic r:id="rId40"/>
    </p:embeddedFont>
    <p:embeddedFont>
      <p:font typeface="Inter"/>
      <p:regular r:id="rId41"/>
      <p:bold r:id="rId42"/>
      <p:italic r:id="rId43"/>
      <p:boldItalic r:id="rId44"/>
    </p:embeddedFont>
    <p:embeddedFont>
      <p:font typeface="Urbanist SemiBold"/>
      <p:regular r:id="rId45"/>
      <p:bold r:id="rId46"/>
      <p:italic r:id="rId47"/>
      <p:boldItalic r:id="rId48"/>
    </p:embeddedFont>
    <p:embeddedFont>
      <p:font typeface="Urbanist"/>
      <p:regular r:id="rId49"/>
      <p:bold r:id="rId50"/>
      <p:italic r:id="rId51"/>
      <p:boldItalic r:id="rId52"/>
    </p:embeddedFont>
    <p:embeddedFont>
      <p:font typeface="Inter ExtraBold"/>
      <p:bold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3C0930-7ECF-4F97-BB87-4DFC4E31FCED}">
  <a:tblStyle styleId="{7E3C0930-7ECF-4F97-BB87-4DFC4E31FC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boldItalic.fntdata"/><Relationship Id="rId42" Type="http://schemas.openxmlformats.org/officeDocument/2006/relationships/font" Target="fonts/Inter-bold.fntdata"/><Relationship Id="rId41" Type="http://schemas.openxmlformats.org/officeDocument/2006/relationships/font" Target="fonts/Inter-regular.fntdata"/><Relationship Id="rId44" Type="http://schemas.openxmlformats.org/officeDocument/2006/relationships/font" Target="fonts/Inter-boldItalic.fntdata"/><Relationship Id="rId43" Type="http://schemas.openxmlformats.org/officeDocument/2006/relationships/font" Target="fonts/Inter-italic.fntdata"/><Relationship Id="rId46" Type="http://schemas.openxmlformats.org/officeDocument/2006/relationships/font" Target="fonts/UrbanistSemiBold-bold.fntdata"/><Relationship Id="rId45" Type="http://schemas.openxmlformats.org/officeDocument/2006/relationships/font" Target="fonts/Urbanis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UrbanistSemiBold-boldItalic.fntdata"/><Relationship Id="rId47" Type="http://schemas.openxmlformats.org/officeDocument/2006/relationships/font" Target="fonts/UrbanistSemiBold-italic.fntdata"/><Relationship Id="rId49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InterLight-regular.fntdata"/><Relationship Id="rId32" Type="http://schemas.openxmlformats.org/officeDocument/2006/relationships/slide" Target="slides/slide26.xml"/><Relationship Id="rId35" Type="http://schemas.openxmlformats.org/officeDocument/2006/relationships/font" Target="fonts/InterLight-italic.fntdata"/><Relationship Id="rId34" Type="http://schemas.openxmlformats.org/officeDocument/2006/relationships/font" Target="fonts/InterLight-bold.fntdata"/><Relationship Id="rId37" Type="http://schemas.openxmlformats.org/officeDocument/2006/relationships/font" Target="fonts/InterSemiBold-regular.fntdata"/><Relationship Id="rId36" Type="http://schemas.openxmlformats.org/officeDocument/2006/relationships/font" Target="fonts/InterLight-boldItalic.fntdata"/><Relationship Id="rId39" Type="http://schemas.openxmlformats.org/officeDocument/2006/relationships/font" Target="fonts/InterSemiBold-italic.fntdata"/><Relationship Id="rId38" Type="http://schemas.openxmlformats.org/officeDocument/2006/relationships/font" Target="fonts/InterSemiBold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Urbanist-italic.fntdata"/><Relationship Id="rId50" Type="http://schemas.openxmlformats.org/officeDocument/2006/relationships/font" Target="fonts/Urbanist-bold.fntdata"/><Relationship Id="rId53" Type="http://schemas.openxmlformats.org/officeDocument/2006/relationships/font" Target="fonts/InterExtraBold-bold.fntdata"/><Relationship Id="rId52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InterExtra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53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5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9" Type="http://schemas.openxmlformats.org/officeDocument/2006/relationships/image" Target="../media/image31.png"/><Relationship Id="rId5" Type="http://schemas.openxmlformats.org/officeDocument/2006/relationships/image" Target="../media/image52.png"/><Relationship Id="rId6" Type="http://schemas.openxmlformats.org/officeDocument/2006/relationships/image" Target="../media/image42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Relationship Id="rId7" Type="http://schemas.openxmlformats.org/officeDocument/2006/relationships/image" Target="../media/image51.png"/><Relationship Id="rId8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9" Type="http://schemas.openxmlformats.org/officeDocument/2006/relationships/image" Target="../media/image49.png"/><Relationship Id="rId5" Type="http://schemas.openxmlformats.org/officeDocument/2006/relationships/image" Target="../media/image41.png"/><Relationship Id="rId6" Type="http://schemas.openxmlformats.org/officeDocument/2006/relationships/image" Target="../media/image48.png"/><Relationship Id="rId7" Type="http://schemas.openxmlformats.org/officeDocument/2006/relationships/image" Target="../media/image46.png"/><Relationship Id="rId8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04962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IEEE FRAUD 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462212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084FC"/>
                </a:solidFill>
                <a:latin typeface="Inter Light"/>
                <a:ea typeface="Inter Light"/>
                <a:cs typeface="Inter Light"/>
                <a:sym typeface="Inter Light"/>
              </a:rPr>
              <a:t>Apache Spark ETL &amp; MLlib Implementation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143500" y="3700462"/>
            <a:ext cx="1905000" cy="285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100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By: Akshay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767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Course: Artificial Intelligence &amp; Machine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5582"/>
            <a:ext cx="11049000" cy="31926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43000" y="3018532"/>
            <a:ext cx="100014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"This project develops a high-performance fraud detection system leveraging Apache Spark to process e-commerce transactions. With a sparse fraud distribution of only</a:t>
            </a:r>
            <a:r>
              <a:rPr b="0" i="1" lang="en-US" sz="2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3.52%</a:t>
            </a:r>
            <a:r>
              <a:rPr b="0" i="1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, the system employs an automated ETL pipeline and Spark MLlib classifiers to ensure financial security at scale."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EXECUTIVE ABSTRACT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7643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6286500" y="224313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Growth of Digital Payments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286500" y="2795587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Online shopping surges have amplified fraudulent activities, costing billions annually. Legacy systems fail to handle the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Volume, Velocity, and Variety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 modern transaction data.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67500" y="41290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protection needs.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67500" y="45862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Distributed computing requirement.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67500" y="50434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Advanced pattern recognition.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171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6291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508635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CHALLENGE OF FRAUD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542925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109787"/>
            <a:ext cx="542925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003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962025" y="3071812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Issue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3624262"/>
            <a:ext cx="4648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 data processing frameworks buckle under millions of records. Detecting fraudulent transactions accurately while maintaining low latency is a critical engineering hurdle for financial institutions.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5003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581775" y="3071812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Technological Gap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581775" y="3624262"/>
            <a:ext cx="4648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 machine learning workflows are often non-scalable. This project bridges the gap using 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Apache Spark's distributed architecture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robust, industrial-grade fraud detection.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 STATEMENT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952500" y="29575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 a scalable Spark ETL pipeline.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2500" y="34147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 Transaction and Identity data.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52500" y="38719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 feature engineering stages.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43291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Handle extreme class imbalances.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67500" y="29575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 four diverse MLlib classifiers.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667500" y="34147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Evaluate via ROC-AUC and F1-Scores.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0" y="38719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Optimize performance via GBT models.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667500" y="43291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Ensure Parquet-optimized storage.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03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575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147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719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003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575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9147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37197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MISSION OBJECTIVES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3162"/>
            <a:ext cx="2619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2443162"/>
            <a:ext cx="2619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43162"/>
            <a:ext cx="2619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2443162"/>
            <a:ext cx="2619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1162" y="27289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806053" y="3376612"/>
            <a:ext cx="21502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PySpark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57250" y="3929062"/>
            <a:ext cx="2047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Distributed Python API for Spark core.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1037" y="27289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3615928" y="3376612"/>
            <a:ext cx="21502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Spark SQL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3667125" y="3929062"/>
            <a:ext cx="2047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Querying and merging massive datasets.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72337" y="27289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425803" y="3376612"/>
            <a:ext cx="21502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MLlib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477000" y="3929062"/>
            <a:ext cx="2047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Scalable ML algorithms and pipelines.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39362" y="272891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235678" y="3376612"/>
            <a:ext cx="21502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Parquet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286875" y="3929062"/>
            <a:ext cx="2047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Optimized columnar data storage.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TECHNOLOGY ECOSYSTEM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81400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571500" y="2614612"/>
            <a:ext cx="11049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90925"/>
            <a:ext cx="1102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/>
          <p:nvPr/>
        </p:nvSpPr>
        <p:spPr>
          <a:xfrm>
            <a:off x="1285875" y="2257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2628900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ETL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2867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Extract &amp; Merge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3164085" y="2257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2449710" y="2628900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PREPROCESS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2449710" y="2867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Cleaning &amp; Impute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042296" y="2257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4327921" y="2628900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ENGINEER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327921" y="2867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Encode &amp; Scale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920507" y="2257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206132" y="2628900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TRAIN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206132" y="2867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MLlib Parallelism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8798718" y="2257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8084343" y="2628900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084343" y="2867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Metrics &amp; Analysis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10676929" y="2257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9962554" y="2628900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FINALIZE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962554" y="2867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Optimal Selection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WORKFLOW PIPELINE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412"/>
            <a:ext cx="5334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38412"/>
            <a:ext cx="5334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962025" y="2928937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Transactional Core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62025" y="3481387"/>
            <a:ext cx="4552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Real-world Vesta e-commerce data featuring columns for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Card Type, Email Domains, Amount, and Product Code.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High-volume files forming the backbone of the study.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677025" y="2928937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Identity Metadata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677025" y="3481387"/>
            <a:ext cx="4552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Enriching data with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Network, Browser, and Device information.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Crucial for detecting botnets and sophisticated fraudulent multi-account patterns.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IEEE-CIS DATASET PROFILE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2971800"/>
            <a:ext cx="5334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0" u="none" cap="none" strike="noStrike">
                <a:solidFill>
                  <a:srgbClr val="2DD4B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3.5%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71500" y="4400550"/>
            <a:ext cx="5334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Fraudulent Samples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286500" y="312896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Extreme class imbalance is the primary challenge. Standard accuracy fails as a metric here.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667500" y="38909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96.5%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Legitimate Transactions.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667500" y="43481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Metric Focus: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Precision, Recall, ROC-AUC.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NEEDLE IN A HAYSTACK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22"/>
          <p:cNvGraphicFramePr/>
          <p:nvPr/>
        </p:nvGraphicFramePr>
        <p:xfrm>
          <a:off x="571500" y="2547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{7E3C0930-7ECF-4F97-BB87-4DFC4E31FCED}</a:tableStyleId>
              </a:tblPr>
              <a:tblGrid>
                <a:gridCol w="2377825"/>
                <a:gridCol w="2850800"/>
                <a:gridCol w="5820375"/>
              </a:tblGrid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 Category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Sub-features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Analytical Purpose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Card Metadata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card1 - card6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Payment type and issuing bank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Time Deltas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D1 - D15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Days between transactions; behavior shifts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Counting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C1 - C14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Address associations and card frequency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Identity Details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id_01 - id_38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Device types, browser info, and network reputation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Email/Addr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P_email, R_email, addr1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Geographical and domain-based risk assessment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2"/>
          <p:cNvSpPr/>
          <p:nvPr/>
        </p:nvSpPr>
        <p:spPr>
          <a:xfrm>
            <a:off x="571500" y="3024187"/>
            <a:ext cx="2377826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949326" y="3024187"/>
            <a:ext cx="2850802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800129" y="3024187"/>
            <a:ext cx="582037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71500" y="3467100"/>
            <a:ext cx="23778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949326" y="3467100"/>
            <a:ext cx="28508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800129" y="3467100"/>
            <a:ext cx="58203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3895725"/>
            <a:ext cx="23778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949326" y="3895725"/>
            <a:ext cx="28508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800129" y="3895725"/>
            <a:ext cx="58203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71500" y="4324350"/>
            <a:ext cx="23778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949326" y="4324350"/>
            <a:ext cx="28508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800129" y="4324350"/>
            <a:ext cx="58203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71500" y="4752975"/>
            <a:ext cx="23778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2949326" y="4752975"/>
            <a:ext cx="28508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800129" y="4752975"/>
            <a:ext cx="58203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71500" y="5181600"/>
            <a:ext cx="23778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2949326" y="5181600"/>
            <a:ext cx="28508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800129" y="5181600"/>
            <a:ext cx="58203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CATALOG DETAIL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669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71500" y="196691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Parallel Data Ingestion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251936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Spark's distributed architecture reads the transaction and identity files concurrently across the cluster.</a:t>
            </a:r>
            <a:endParaRPr/>
          </a:p>
        </p:txBody>
      </p:sp>
      <p:pic>
        <p:nvPicPr>
          <p:cNvPr descr="image.png" id="264" name="Google Shape;26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7643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952500" y="32813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Key Join: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Merged on TransactionID.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52500" y="37385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Sparse Pruning: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Drops empty ID metadata.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52500" y="41957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Memory Mgmt: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Optimized schema inference.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242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814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3862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ETL PHASE 1: INGESTION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571500" y="3071812"/>
            <a:ext cx="37337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Cleaning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571500" y="3624262"/>
            <a:ext cx="3555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Removal of duplicates and high-correlation redundant masked variables to reduce model noise.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4317950" y="3071812"/>
            <a:ext cx="37337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Imputation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4317950" y="3624262"/>
            <a:ext cx="3555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Handling missing numerical data via median/mean and categorical data via "Unknown" tags.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8064400" y="3071812"/>
            <a:ext cx="37337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Formatting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8064400" y="3624262"/>
            <a:ext cx="3555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Standardizing timestamp-based columns and normalizing currency denominations.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ETL PHASE 2: TRANSFORMATION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ETL PHASE 3: LOADING</a:t>
            </a:r>
            <a:endParaRPr/>
          </a:p>
        </p:txBody>
      </p:sp>
      <p:pic>
        <p:nvPicPr>
          <p:cNvPr descr="image.png" id="292" name="Google Shape;292;p25"/>
          <p:cNvPicPr preferRelativeResize="0"/>
          <p:nvPr/>
        </p:nvPicPr>
        <p:blipFill rotWithShape="1">
          <a:blip r:embed="rId4">
            <a:alphaModFix/>
          </a:blip>
          <a:srcRect b="0" l="-18723" r="0" t="0"/>
          <a:stretch/>
        </p:blipFill>
        <p:spPr>
          <a:xfrm>
            <a:off x="605175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571500" y="2305050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Power of Parquet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571500" y="30003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Storing the finalized dataset in Apache Parquet format ensures: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952500" y="39147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compression ratios (saving disk space).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952500" y="43719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Column-level reading (faster queries).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952500" y="48291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Readiness for Big Data warehouse loads.</a:t>
            </a:r>
            <a:endParaRPr/>
          </a:p>
        </p:txBody>
      </p:sp>
      <p:pic>
        <p:nvPicPr>
          <p:cNvPr descr="image.png" id="298" name="Google Shape;29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576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48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72037"/>
            <a:ext cx="2667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67037"/>
            <a:ext cx="53340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571500" y="230028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Sequential Transformation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571500" y="285273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Spark ML Pipelines bundle transformations into an atomic workflow.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6286500" y="2490787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Logic flow: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952500" y="361473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StringIndexer: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Labels to Indices.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952500" y="407193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OneHotEncoder: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Vector expansion.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952500" y="452913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VectorAssembler: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Merging columns.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952500" y="498633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StandardScaler: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Unit variance scaling.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SPARK MLLIB PIPELINE</a:t>
            </a: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1287"/>
            <a:ext cx="5334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81287"/>
            <a:ext cx="5334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962025" y="3071812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Logistic Regression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962025" y="3624262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baseline model. Used to establish a linear performance boundary. Fast and interpretable, but lacks depth for non-linear fraud patterns.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6677025" y="3071812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Decision Tree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6677025" y="3624262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non-parametric model that builds logical rules. It captures feature interactions but is highly prone to overfitting and bias in imbalanced sets.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CANDIDATE MODELS: BATCH 1</a:t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7000"/>
            <a:ext cx="5334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7000"/>
            <a:ext cx="533400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962025" y="3057525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Random Forest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962025" y="3609975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Bagging ensemble method. Trains multiple trees on subsets of data to reduce variance. Highly stable for fraud datasets.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6677025" y="3057525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Gradient Boosted Trees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6677025" y="3609975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Boosting ensemble. Sequentially trains trees to correct errors of predecessors.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powerhouse of modern classification.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CANDIDATE MODELS: BATCH 2</a:t>
            </a:r>
            <a:endParaRPr/>
          </a:p>
        </p:txBody>
      </p:sp>
      <p:sp>
        <p:nvSpPr>
          <p:cNvPr id="341" name="Google Shape;341;p2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7" name="Google Shape;347;p29"/>
          <p:cNvGraphicFramePr/>
          <p:nvPr/>
        </p:nvGraphicFramePr>
        <p:xfrm>
          <a:off x="571500" y="2762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{7E3C0930-7ECF-4F97-BB87-4DFC4E31FCED}</a:tableStyleId>
              </a:tblPr>
              <a:tblGrid>
                <a:gridCol w="3337775"/>
                <a:gridCol w="1999050"/>
                <a:gridCol w="1999050"/>
                <a:gridCol w="1659875"/>
                <a:gridCol w="2053225"/>
              </a:tblGrid>
              <a:tr h="44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Algorithm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ROC-AUC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</a:tr>
              <a:tr h="44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97.18%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96.77%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97.18%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85.76%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97.52%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97.25%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97.52%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20.72%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97.36%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97.20%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97.36%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86.71%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GBT Classifier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97.63%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97.43%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97.63%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89.76%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D4BF"/>
                    </a:solidFill>
                  </a:tcPr>
                </a:tc>
              </a:tr>
            </a:tbl>
          </a:graphicData>
        </a:graphic>
      </p:graphicFrame>
      <p:sp>
        <p:nvSpPr>
          <p:cNvPr id="348" name="Google Shape;348;p29"/>
          <p:cNvSpPr/>
          <p:nvPr/>
        </p:nvSpPr>
        <p:spPr>
          <a:xfrm>
            <a:off x="571500" y="3238500"/>
            <a:ext cx="3337768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3909268" y="3238500"/>
            <a:ext cx="1999059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5908327" y="3238500"/>
            <a:ext cx="1999059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7907387" y="3238500"/>
            <a:ext cx="165988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9567267" y="3238500"/>
            <a:ext cx="2053232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571500" y="3681412"/>
            <a:ext cx="3337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3909268" y="3681412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5908327" y="3681412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7907387" y="3681412"/>
            <a:ext cx="16598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9567267" y="3681412"/>
            <a:ext cx="20532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571500" y="4110037"/>
            <a:ext cx="3337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3909268" y="4110037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5908327" y="4110037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7907387" y="4110037"/>
            <a:ext cx="16598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9567267" y="4110037"/>
            <a:ext cx="20532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71500" y="4538662"/>
            <a:ext cx="3337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3909268" y="4538662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908327" y="4538662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7907387" y="4538662"/>
            <a:ext cx="16598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9567267" y="4538662"/>
            <a:ext cx="20532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71500" y="4967287"/>
            <a:ext cx="33377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3909268" y="4967287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5908327" y="4967287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7907387" y="4967287"/>
            <a:ext cx="16598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9567267" y="4967287"/>
            <a:ext cx="20532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COMPARATIVE RESULTS MATRIX</a:t>
            </a:r>
            <a:endParaRPr/>
          </a:p>
        </p:txBody>
      </p:sp>
      <p:sp>
        <p:nvSpPr>
          <p:cNvPr id="374" name="Google Shape;374;p2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 txBox="1"/>
          <p:nvPr/>
        </p:nvSpPr>
        <p:spPr>
          <a:xfrm>
            <a:off x="571500" y="46577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Note: ROC-AUC represents the model's ability to distinguish between classes. GBT leads significantly.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METRIC PERFORMANCE: ROC-AUC</a:t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/>
        </p:nvSpPr>
        <p:spPr>
          <a:xfrm>
            <a:off x="571500" y="292893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Accuracy Trap</a:t>
            </a:r>
            <a:endParaRPr/>
          </a:p>
        </p:txBody>
      </p:sp>
      <p:sp>
        <p:nvSpPr>
          <p:cNvPr id="390" name="Google Shape;390;p31"/>
          <p:cNvSpPr txBox="1"/>
          <p:nvPr/>
        </p:nvSpPr>
        <p:spPr>
          <a:xfrm>
            <a:off x="571500" y="3481387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Decision Tree accuracy (97.5%) looks great, but ROC-AUC (20.7%) is terrible. This proves the model is just predicting the majority class (Legit) correctly while failing to catch actual Fraud.</a:t>
            </a:r>
            <a:endParaRPr/>
          </a:p>
        </p:txBody>
      </p:sp>
      <p:sp>
        <p:nvSpPr>
          <p:cNvPr id="391" name="Google Shape;391;p31"/>
          <p:cNvSpPr txBox="1"/>
          <p:nvPr/>
        </p:nvSpPr>
        <p:spPr>
          <a:xfrm>
            <a:off x="6286500" y="292893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GBT Edge</a:t>
            </a:r>
            <a:endParaRPr/>
          </a:p>
        </p:txBody>
      </p:sp>
      <p:sp>
        <p:nvSpPr>
          <p:cNvPr id="392" name="Google Shape;392;p31"/>
          <p:cNvSpPr txBox="1"/>
          <p:nvPr/>
        </p:nvSpPr>
        <p:spPr>
          <a:xfrm>
            <a:off x="6286500" y="3481387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With an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ROC-AUC of 89.76%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GBT provides the best separation between Fraud (1) and Legit (0) transactions, making it the only viable choice for a production environment.</a:t>
            </a:r>
            <a:endParaRPr/>
          </a:p>
        </p:txBody>
      </p:sp>
      <p:sp>
        <p:nvSpPr>
          <p:cNvPr id="393" name="Google Shape;393;p3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EVALUATION DILEMMA</a:t>
            </a: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2"/>
          <p:cNvSpPr txBox="1"/>
          <p:nvPr/>
        </p:nvSpPr>
        <p:spPr>
          <a:xfrm>
            <a:off x="2934925" y="2430825"/>
            <a:ext cx="5334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0" u="none" cap="none" strike="noStrike">
                <a:solidFill>
                  <a:srgbClr val="2DD4B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89.7%  </a:t>
            </a:r>
            <a:endParaRPr/>
          </a:p>
        </p:txBody>
      </p:sp>
      <p:sp>
        <p:nvSpPr>
          <p:cNvPr id="400" name="Google Shape;400;p32"/>
          <p:cNvSpPr txBox="1"/>
          <p:nvPr/>
        </p:nvSpPr>
        <p:spPr>
          <a:xfrm>
            <a:off x="2348675" y="4162425"/>
            <a:ext cx="53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Optimal ROC-AUC Score</a:t>
            </a:r>
            <a:endParaRPr/>
          </a:p>
        </p:txBody>
      </p:sp>
      <p:sp>
        <p:nvSpPr>
          <p:cNvPr id="401" name="Google Shape;401;p32"/>
          <p:cNvSpPr txBox="1"/>
          <p:nvPr/>
        </p:nvSpPr>
        <p:spPr>
          <a:xfrm>
            <a:off x="2569925" y="4626975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Achieved by Gradient Boosted Trees Classifier.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PERFORMANCE WINNER</a:t>
            </a:r>
            <a:endParaRPr/>
          </a:p>
        </p:txBody>
      </p:sp>
      <p:sp>
        <p:nvSpPr>
          <p:cNvPr id="403" name="Google Shape;403;p3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6037"/>
            <a:ext cx="35559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86037"/>
            <a:ext cx="35559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86037"/>
            <a:ext cx="35559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2225" y="28717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3"/>
          <p:cNvSpPr txBox="1"/>
          <p:nvPr/>
        </p:nvSpPr>
        <p:spPr>
          <a:xfrm>
            <a:off x="782638" y="3519487"/>
            <a:ext cx="313367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Scalability</a:t>
            </a:r>
            <a:endParaRPr/>
          </a:p>
        </p:txBody>
      </p:sp>
      <p:sp>
        <p:nvSpPr>
          <p:cNvPr id="414" name="Google Shape;414;p33"/>
          <p:cNvSpPr txBox="1"/>
          <p:nvPr/>
        </p:nvSpPr>
        <p:spPr>
          <a:xfrm>
            <a:off x="857250" y="4071937"/>
            <a:ext cx="2984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Handles GBs of data across Spark nodes effortlessly.</a:t>
            </a:r>
            <a:endParaRPr/>
          </a:p>
        </p:txBody>
      </p:sp>
      <p:pic>
        <p:nvPicPr>
          <p:cNvPr descr="image.png" id="415" name="Google Shape;41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251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3"/>
          <p:cNvSpPr txBox="1"/>
          <p:nvPr/>
        </p:nvSpPr>
        <p:spPr>
          <a:xfrm>
            <a:off x="4529089" y="3519487"/>
            <a:ext cx="313367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Automation</a:t>
            </a:r>
            <a:endParaRPr/>
          </a:p>
        </p:txBody>
      </p:sp>
      <p:sp>
        <p:nvSpPr>
          <p:cNvPr id="417" name="Google Shape;417;p33"/>
          <p:cNvSpPr txBox="1"/>
          <p:nvPr/>
        </p:nvSpPr>
        <p:spPr>
          <a:xfrm>
            <a:off x="4603700" y="4071937"/>
            <a:ext cx="2984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End-to-end ML Pipeline for consistent preprocessing.</a:t>
            </a:r>
            <a:endParaRPr/>
          </a:p>
        </p:txBody>
      </p:sp>
      <p:pic>
        <p:nvPicPr>
          <p:cNvPr descr="image.png" id="418" name="Google Shape;418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3701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3"/>
          <p:cNvSpPr txBox="1"/>
          <p:nvPr/>
        </p:nvSpPr>
        <p:spPr>
          <a:xfrm>
            <a:off x="8275539" y="3519487"/>
            <a:ext cx="313367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Speed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8350150" y="4071937"/>
            <a:ext cx="2984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Distributed training is 10x faster than single-node Sklearn.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STRENGTHS</a:t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4"/>
          <p:cNvSpPr txBox="1"/>
          <p:nvPr/>
        </p:nvSpPr>
        <p:spPr>
          <a:xfrm>
            <a:off x="571500" y="307181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Class Imbalance</a:t>
            </a:r>
            <a:endParaRPr/>
          </a:p>
        </p:txBody>
      </p:sp>
      <p:sp>
        <p:nvSpPr>
          <p:cNvPr id="429" name="Google Shape;429;p34"/>
          <p:cNvSpPr txBox="1"/>
          <p:nvPr/>
        </p:nvSpPr>
        <p:spPr>
          <a:xfrm>
            <a:off x="571500" y="362426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Even with GBT, the extreme sparse nature of fraud data limits absolute recall without increasing false positives.</a:t>
            </a:r>
            <a:endParaRPr/>
          </a:p>
        </p:txBody>
      </p:sp>
      <p:sp>
        <p:nvSpPr>
          <p:cNvPr id="430" name="Google Shape;430;p34"/>
          <p:cNvSpPr txBox="1"/>
          <p:nvPr/>
        </p:nvSpPr>
        <p:spPr>
          <a:xfrm>
            <a:off x="6286500" y="307181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Resource Demand</a:t>
            </a:r>
            <a:endParaRPr/>
          </a:p>
        </p:txBody>
      </p:sp>
      <p:sp>
        <p:nvSpPr>
          <p:cNvPr id="431" name="Google Shape;431;p34"/>
          <p:cNvSpPr txBox="1"/>
          <p:nvPr/>
        </p:nvSpPr>
        <p:spPr>
          <a:xfrm>
            <a:off x="6286500" y="3624262"/>
            <a:ext cx="5334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Large Spark clusters require significant RAM and CPU overhead, impacting operational costs for smaller institutions.</a:t>
            </a:r>
            <a:endParaRPr/>
          </a:p>
        </p:txBody>
      </p:sp>
      <p:sp>
        <p:nvSpPr>
          <p:cNvPr id="432" name="Google Shape;432;p3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CONSTRAINTS</a:t>
            </a:r>
            <a:endParaRPr/>
          </a:p>
        </p:txBody>
      </p:sp>
      <p:sp>
        <p:nvSpPr>
          <p:cNvPr id="433" name="Google Shape;433;p3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3555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00287"/>
            <a:ext cx="3555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00287"/>
            <a:ext cx="35559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5"/>
          <p:cNvSpPr txBox="1"/>
          <p:nvPr/>
        </p:nvSpPr>
        <p:spPr>
          <a:xfrm>
            <a:off x="571500" y="4395787"/>
            <a:ext cx="3555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Streaming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Integrating Spark Structured Streaming for live alerts.</a:t>
            </a:r>
            <a:endParaRPr/>
          </a:p>
        </p:txBody>
      </p:sp>
      <p:sp>
        <p:nvSpPr>
          <p:cNvPr id="443" name="Google Shape;443;p35"/>
          <p:cNvSpPr txBox="1"/>
          <p:nvPr/>
        </p:nvSpPr>
        <p:spPr>
          <a:xfrm>
            <a:off x="4317950" y="4395787"/>
            <a:ext cx="3555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Deep Learning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Deploying LSTM/CNN nodes for sequence-based fraud.</a:t>
            </a:r>
            <a:endParaRPr/>
          </a:p>
        </p:txBody>
      </p:sp>
      <p:sp>
        <p:nvSpPr>
          <p:cNvPr id="444" name="Google Shape;444;p35"/>
          <p:cNvSpPr txBox="1"/>
          <p:nvPr/>
        </p:nvSpPr>
        <p:spPr>
          <a:xfrm>
            <a:off x="8064400" y="4395787"/>
            <a:ext cx="3555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Explainable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Using SHAP values for model interpretability.</a:t>
            </a:r>
            <a:endParaRPr/>
          </a:p>
        </p:txBody>
      </p:sp>
      <p:pic>
        <p:nvPicPr>
          <p:cNvPr descr="image.png" id="445" name="Google Shape;445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309812"/>
            <a:ext cx="35369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27475" y="2309812"/>
            <a:ext cx="35369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73925" y="2309812"/>
            <a:ext cx="353690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HORIZONS</a:t>
            </a: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4" name="Google Shape;4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 txBox="1"/>
          <p:nvPr/>
        </p:nvSpPr>
        <p:spPr>
          <a:xfrm>
            <a:off x="571500" y="3186112"/>
            <a:ext cx="11049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This research validates </a:t>
            </a: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Apache Spark</a:t>
            </a: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as a powerful engine for building industrial fraud detection systems. By automating the ETL lifecycle and identifying </a:t>
            </a: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GBT</a:t>
            </a: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as the superior classifier, 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 have </a:t>
            </a: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established a framework capable of handling modern financial threats with high reliability and efficiency.</a:t>
            </a:r>
            <a:endParaRPr/>
          </a:p>
        </p:txBody>
      </p:sp>
      <p:sp>
        <p:nvSpPr>
          <p:cNvPr id="456" name="Google Shape;456;p3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CONCLUSION</a:t>
            </a:r>
            <a:endParaRPr/>
          </a:p>
        </p:txBody>
      </p:sp>
      <p:sp>
        <p:nvSpPr>
          <p:cNvPr id="457" name="Google Shape;457;p3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2" name="Google Shape;46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38250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7"/>
          <p:cNvSpPr txBox="1"/>
          <p:nvPr/>
        </p:nvSpPr>
        <p:spPr>
          <a:xfrm>
            <a:off x="295275" y="24765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Questions &amp; Answers</a:t>
            </a:r>
            <a:endParaRPr/>
          </a:p>
        </p:txBody>
      </p:sp>
      <p:sp>
        <p:nvSpPr>
          <p:cNvPr id="465" name="Google Shape;465;p37"/>
          <p:cNvSpPr txBox="1"/>
          <p:nvPr/>
        </p:nvSpPr>
        <p:spPr>
          <a:xfrm>
            <a:off x="571500" y="34290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time.</a:t>
            </a:r>
            <a:endParaRPr/>
          </a:p>
        </p:txBody>
      </p:sp>
      <p:sp>
        <p:nvSpPr>
          <p:cNvPr id="466" name="Google Shape;466;p37"/>
          <p:cNvSpPr txBox="1"/>
          <p:nvPr/>
        </p:nvSpPr>
        <p:spPr>
          <a:xfrm>
            <a:off x="571500" y="4667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By: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Akshay</a:t>
            </a:r>
            <a:endParaRPr/>
          </a:p>
        </p:txBody>
      </p:sp>
      <p:sp>
        <p:nvSpPr>
          <p:cNvPr id="467" name="Google Shape;467;p37"/>
          <p:cNvSpPr txBox="1"/>
          <p:nvPr/>
        </p:nvSpPr>
        <p:spPr>
          <a:xfrm>
            <a:off x="571500" y="5143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Artificial Intelligence &amp; Machine Learning Specialist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2" name="Google Shape;4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8"/>
          <p:cNvSpPr/>
          <p:nvPr/>
        </p:nvSpPr>
        <p:spPr>
          <a:xfrm>
            <a:off x="571500" y="147637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571500" y="24193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571500" y="31908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571500" y="39624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571500" y="47339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571500" y="2409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571500" y="2409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571500" y="3181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571500" y="3181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571500" y="3952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571500" y="3952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571500" y="549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571500" y="549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8" name="Google Shape;48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8"/>
          <p:cNvSpPr txBox="1"/>
          <p:nvPr/>
        </p:nvSpPr>
        <p:spPr>
          <a:xfrm>
            <a:off x="1666875" y="16192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https://static.vecteezy.com/system/resources/thumbnails/080/272/846/small_2x/3d-blue-bank-card-and-shield-with-arrows-financial-security-card-protection-payment-defense-fraud-prevention-atm-safety-encrypted-financial-operations-concept-vector.jpg</a:t>
            </a:r>
            <a:endParaRPr/>
          </a:p>
        </p:txBody>
      </p:sp>
      <p:sp>
        <p:nvSpPr>
          <p:cNvPr id="490" name="Google Shape;490;p38"/>
          <p:cNvSpPr txBox="1"/>
          <p:nvPr/>
        </p:nvSpPr>
        <p:spPr>
          <a:xfrm>
            <a:off x="1666875" y="20383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491" name="Google Shape;49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62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8"/>
          <p:cNvSpPr txBox="1"/>
          <p:nvPr/>
        </p:nvSpPr>
        <p:spPr>
          <a:xfrm>
            <a:off x="1666875" y="25693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https://www.altexsoft.com/media/2020/03/etl_pipeline.png</a:t>
            </a:r>
            <a:endParaRPr/>
          </a:p>
        </p:txBody>
      </p:sp>
      <p:sp>
        <p:nvSpPr>
          <p:cNvPr id="493" name="Google Shape;493;p38"/>
          <p:cNvSpPr txBox="1"/>
          <p:nvPr/>
        </p:nvSpPr>
        <p:spPr>
          <a:xfrm>
            <a:off x="1666875" y="28027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www.altexsoft.com</a:t>
            </a:r>
            <a:endParaRPr/>
          </a:p>
        </p:txBody>
      </p:sp>
      <p:pic>
        <p:nvPicPr>
          <p:cNvPr descr="image.png" id="494" name="Google Shape;49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33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8"/>
          <p:cNvSpPr txBox="1"/>
          <p:nvPr/>
        </p:nvSpPr>
        <p:spPr>
          <a:xfrm>
            <a:off x="1666875" y="33408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https://data-flair.training/blogs/wp-content/uploads/sites/2/2017/07/apache-spark-ecosystem-components.jpg</a:t>
            </a:r>
            <a:endParaRPr/>
          </a:p>
        </p:txBody>
      </p:sp>
      <p:sp>
        <p:nvSpPr>
          <p:cNvPr id="496" name="Google Shape;496;p38"/>
          <p:cNvSpPr txBox="1"/>
          <p:nvPr/>
        </p:nvSpPr>
        <p:spPr>
          <a:xfrm>
            <a:off x="1666875" y="35742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data-flair.training</a:t>
            </a:r>
            <a:endParaRPr/>
          </a:p>
        </p:txBody>
      </p:sp>
      <p:pic>
        <p:nvPicPr>
          <p:cNvPr descr="image.png" id="497" name="Google Shape;497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05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8"/>
          <p:cNvSpPr txBox="1"/>
          <p:nvPr/>
        </p:nvSpPr>
        <p:spPr>
          <a:xfrm>
            <a:off x="1666875" y="41124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https://www.altexsoft.com/media/2019/06/word-image-48.png</a:t>
            </a:r>
            <a:endParaRPr/>
          </a:p>
        </p:txBody>
      </p:sp>
      <p:sp>
        <p:nvSpPr>
          <p:cNvPr id="499" name="Google Shape;499;p38"/>
          <p:cNvSpPr txBox="1"/>
          <p:nvPr/>
        </p:nvSpPr>
        <p:spPr>
          <a:xfrm>
            <a:off x="1666875" y="43457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www.altexsoft.com</a:t>
            </a:r>
            <a:endParaRPr/>
          </a:p>
        </p:txBody>
      </p:sp>
      <p:pic>
        <p:nvPicPr>
          <p:cNvPr descr="image.png" id="500" name="Google Shape;500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76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 txBox="1"/>
          <p:nvPr/>
        </p:nvSpPr>
        <p:spPr>
          <a:xfrm>
            <a:off x="1666875" y="48839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https://www.frontiersin.org/api/ipx/f=webp/https://www.frontiersin.org/files/Articles/1378443/xml-images/FENVS_fenvs-2024-1378443_wc_abs.webp</a:t>
            </a:r>
            <a:endParaRPr/>
          </a:p>
        </p:txBody>
      </p:sp>
      <p:sp>
        <p:nvSpPr>
          <p:cNvPr id="502" name="Google Shape;502;p38"/>
          <p:cNvSpPr txBox="1"/>
          <p:nvPr/>
        </p:nvSpPr>
        <p:spPr>
          <a:xfrm>
            <a:off x="1666875" y="51173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www.frontiersin.org</a:t>
            </a:r>
            <a:endParaRPr/>
          </a:p>
        </p:txBody>
      </p:sp>
      <p:pic>
        <p:nvPicPr>
          <p:cNvPr descr="image.png" id="503" name="Google Shape;503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483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1666875" y="56554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https://cambridge-intelligence.com/wp-content/uploads/2026/04/credit-card-fraud-detection-intro.jpg</a:t>
            </a:r>
            <a:endParaRPr/>
          </a:p>
        </p:txBody>
      </p:sp>
      <p:sp>
        <p:nvSpPr>
          <p:cNvPr id="505" name="Google Shape;505;p38"/>
          <p:cNvSpPr txBox="1"/>
          <p:nvPr/>
        </p:nvSpPr>
        <p:spPr>
          <a:xfrm>
            <a:off x="1666875" y="58888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cambridge-intelligence.com</a:t>
            </a:r>
            <a:endParaRPr/>
          </a:p>
        </p:txBody>
      </p:sp>
      <p:sp>
        <p:nvSpPr>
          <p:cNvPr id="506" name="Google Shape;506;p3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507" name="Google Shape;507;p3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